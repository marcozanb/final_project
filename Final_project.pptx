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8" r:id="rId2"/>
    <p:sldId id="260" r:id="rId3"/>
    <p:sldId id="263" r:id="rId4"/>
    <p:sldId id="264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FEF"/>
    <a:srgbClr val="0017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797" autoAdjust="0"/>
  </p:normalViewPr>
  <p:slideViewPr>
    <p:cSldViewPr snapToGrid="0">
      <p:cViewPr varScale="1">
        <p:scale>
          <a:sx n="71" d="100"/>
          <a:sy n="71" d="100"/>
        </p:scale>
        <p:origin x="110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33D5B-D216-42FE-91A5-6251786E7EF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CEBD5-A753-4615-873F-38024EBDB2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8550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CEBD5-A753-4615-873F-38024EBDB2D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5196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45675-8F2D-8C3A-BD0B-ECD0B4C5E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AF383-9303-1B75-1201-44F974BD59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C19FA-F9FE-C209-898D-35B68D673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71CF3-F6DA-7C40-97F0-4AB67F875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CEBD5-A753-4615-873F-38024EBDB2D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03961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5D741-F6E8-5D6E-F262-05B7D714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B3226-3535-FD58-05D3-344F9B420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57311-6B37-8FF4-DFA9-5E761D1D2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93FBA-29A8-ACF8-B7DF-535DFECC7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CEBD5-A753-4615-873F-38024EBDB2D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1301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14934" y="1508573"/>
            <a:ext cx="2457873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rgbClr val="3639E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1"/>
            <a:ext cx="85344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2648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4933" y="792847"/>
            <a:ext cx="9924627" cy="615553"/>
          </a:xfrm>
        </p:spPr>
        <p:txBody>
          <a:bodyPr lIns="0" tIns="0" rIns="0" bIns="0"/>
          <a:lstStyle>
            <a:lvl1pPr>
              <a:defRPr sz="4000" b="0" i="0">
                <a:solidFill>
                  <a:srgbClr val="3639E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949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4933" y="792847"/>
            <a:ext cx="9924627" cy="615553"/>
          </a:xfrm>
        </p:spPr>
        <p:txBody>
          <a:bodyPr lIns="0" tIns="0" rIns="0" bIns="0"/>
          <a:lstStyle>
            <a:lvl1pPr>
              <a:defRPr sz="4000" b="0" i="0">
                <a:solidFill>
                  <a:srgbClr val="3639E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07951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00DE6B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6400" y="304800"/>
            <a:ext cx="355733" cy="35573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4933" y="792847"/>
            <a:ext cx="9924627" cy="615553"/>
          </a:xfrm>
        </p:spPr>
        <p:txBody>
          <a:bodyPr lIns="0" tIns="0" rIns="0" bIns="0"/>
          <a:lstStyle>
            <a:lvl1pPr>
              <a:defRPr sz="4000" b="0" i="0">
                <a:solidFill>
                  <a:srgbClr val="3639E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8931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3379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06400" y="304800"/>
            <a:ext cx="355733" cy="35573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4933" y="792847"/>
            <a:ext cx="9924627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rgbClr val="3639E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10916" y="2819903"/>
            <a:ext cx="1079584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1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1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1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6800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olistbr/brazilian-ecommerc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001733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rgbClr val="001733"/>
              </a:solidFill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47667" y="2424734"/>
            <a:ext cx="5896664" cy="200853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384801" y="4343400"/>
            <a:ext cx="188470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lang="it-IT" sz="2133" kern="0" spc="-53" dirty="0" err="1">
                <a:solidFill>
                  <a:srgbClr val="3639EB"/>
                </a:solidFill>
                <a:latin typeface="Arial Black"/>
                <a:cs typeface="Arial Black"/>
              </a:rPr>
              <a:t>Final</a:t>
            </a:r>
            <a:r>
              <a:rPr lang="it-IT" sz="2133" kern="0" spc="-53" dirty="0">
                <a:solidFill>
                  <a:srgbClr val="3639EB"/>
                </a:solidFill>
                <a:latin typeface="Arial Black"/>
                <a:cs typeface="Arial Black"/>
              </a:rPr>
              <a:t> Project</a:t>
            </a:r>
            <a:endParaRPr lang="it-IT" sz="2133" kern="0" dirty="0">
              <a:solidFill>
                <a:sysClr val="windowText" lastClr="000000"/>
              </a:solidFill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238E-FEFE-9356-1CA3-037359FB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4C31748-71DE-CE29-A98C-2334FC298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933" y="792847"/>
            <a:ext cx="10867467" cy="538609"/>
          </a:xfrm>
        </p:spPr>
        <p:txBody>
          <a:bodyPr/>
          <a:lstStyle/>
          <a:p>
            <a:r>
              <a:rPr lang="it-IT" sz="3500" b="1" dirty="0">
                <a:latin typeface="Helvetica" panose="020B0604020202020204" pitchFamily="34" charset="0"/>
                <a:cs typeface="Helvetica" panose="020B0604020202020204" pitchFamily="34" charset="0"/>
              </a:rPr>
              <a:t>Gruppo e oggetto del lavoro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69B19E0-F20B-135A-AC1A-857ABE3445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4933" y="1688664"/>
            <a:ext cx="3779906" cy="3231654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it-IT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Componenti</a:t>
            </a:r>
            <a:endParaRPr lang="it-IT" sz="2400" dirty="0">
              <a:solidFill>
                <a:srgbClr val="3639EB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Rachele Tenerini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Gabriel Spinelli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 err="1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Malidu</a:t>
            </a: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it-IT" sz="2000" dirty="0" err="1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Udara</a:t>
            </a: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it-IT" sz="2000" dirty="0" err="1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Totagamuge</a:t>
            </a:r>
            <a:endParaRPr lang="it-IT" sz="2000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Marco Zanola</a:t>
            </a:r>
          </a:p>
          <a:p>
            <a:endParaRPr lang="it-IT" dirty="0"/>
          </a:p>
          <a:p>
            <a:endParaRPr lang="it-IT" dirty="0"/>
          </a:p>
          <a:p>
            <a:endParaRPr lang="it-IT" dirty="0">
              <a:solidFill>
                <a:srgbClr val="FFFFFF"/>
              </a:solidFill>
            </a:endParaRP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E77614F5-82B6-135C-1591-DADB63EB4393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4494838" y="1688664"/>
            <a:ext cx="7087561" cy="627864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Oggetto</a:t>
            </a:r>
            <a:r>
              <a:rPr lang="en-US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del </a:t>
            </a:r>
            <a:r>
              <a:rPr lang="en-US" sz="2400" dirty="0" err="1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lavoro</a:t>
            </a:r>
            <a:r>
              <a:rPr lang="en-US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1733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Track 2 freelance open track:</a:t>
            </a:r>
          </a:p>
          <a:p>
            <a:pPr fontAlgn="base"/>
            <a:r>
              <a:rPr lang="it-IT" sz="2000" b="1" dirty="0" err="1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Brazilian</a:t>
            </a:r>
            <a:r>
              <a:rPr lang="it-IT" sz="2000" b="1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E-Commerce Public Dataset by </a:t>
            </a:r>
            <a:r>
              <a:rPr lang="it-IT" sz="2000" b="1" dirty="0" err="1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Olist</a:t>
            </a:r>
            <a:br>
              <a:rPr lang="it-IT" sz="2000" b="1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it-IT" sz="2000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fontAlgn="base"/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Source: </a:t>
            </a: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  <a:hlinkClick r:id="rId3"/>
              </a:rPr>
              <a:t>https://www.kaggle.com/datasets/olistbr/brazilian-ecommerce</a:t>
            </a:r>
            <a:endParaRPr lang="it-IT" sz="2000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fontAlgn="base"/>
            <a:endParaRPr lang="it-IT" sz="2000" b="1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fontAlgn="base"/>
            <a:endParaRPr lang="it-IT" sz="2400" b="1" dirty="0">
              <a:solidFill>
                <a:srgbClr val="001733"/>
              </a:solidFill>
            </a:endParaRPr>
          </a:p>
          <a:p>
            <a:endParaRPr lang="en-US" sz="2200" dirty="0">
              <a:solidFill>
                <a:srgbClr val="3639EB"/>
              </a:solidFill>
              <a:latin typeface="Arial Black"/>
              <a:ea typeface="+mj-ea"/>
            </a:endParaRPr>
          </a:p>
          <a:p>
            <a:endParaRPr lang="en-US" sz="2200" dirty="0">
              <a:solidFill>
                <a:srgbClr val="3639EB"/>
              </a:solidFill>
              <a:latin typeface="Arial Black"/>
              <a:ea typeface="+mj-ea"/>
            </a:endParaRPr>
          </a:p>
          <a:p>
            <a:endParaRPr lang="en-US" sz="2200" dirty="0">
              <a:solidFill>
                <a:srgbClr val="001733"/>
              </a:solidFill>
              <a:latin typeface="Arial Black"/>
              <a:ea typeface="+mj-ea"/>
            </a:endParaRP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585716B-2EDA-E6A2-D041-D9AE0E8F62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225" y="4735439"/>
            <a:ext cx="1052175" cy="105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618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5542D-9B82-7324-1F8D-AA77C2230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91765F8B-6E81-C0E4-2D18-DDB1282A7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933" y="792847"/>
            <a:ext cx="10867467" cy="1107996"/>
          </a:xfrm>
        </p:spPr>
        <p:txBody>
          <a:bodyPr/>
          <a:lstStyle/>
          <a:p>
            <a:r>
              <a:rPr lang="it-IT" sz="3500" b="1" dirty="0">
                <a:solidFill>
                  <a:srgbClr val="014FE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Obiettivo: </a:t>
            </a:r>
            <a:br>
              <a:rPr lang="it-IT" sz="3500" b="1" dirty="0">
                <a:solidFill>
                  <a:srgbClr val="014FE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it-IT" sz="3500" b="1" dirty="0">
                <a:solidFill>
                  <a:srgbClr val="014FE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Analisi del Dataset </a:t>
            </a:r>
            <a:r>
              <a:rPr lang="it-IT" sz="3500" b="1" dirty="0" err="1">
                <a:solidFill>
                  <a:srgbClr val="014FE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Brazilian</a:t>
            </a:r>
            <a:r>
              <a:rPr lang="it-IT" sz="3500" b="1" dirty="0">
                <a:solidFill>
                  <a:srgbClr val="014FE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E-Commerce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F0E1E5B-FACE-BE4A-AB35-CF2A9D3BA4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4932" y="2183516"/>
            <a:ext cx="3340701" cy="2814617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it-IT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Contenuto</a:t>
            </a:r>
            <a:r>
              <a:rPr lang="it-IT" sz="2400" b="1" dirty="0">
                <a:solidFill>
                  <a:srgbClr val="014FEF"/>
                </a:solidFill>
              </a:rPr>
              <a:t>:</a:t>
            </a:r>
            <a:r>
              <a:rPr lang="it-IT" sz="2400" dirty="0">
                <a:solidFill>
                  <a:srgbClr val="014FEF"/>
                </a:solidFill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Categorie prodotti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Venduto 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Spedizioni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Metodi di pagamento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Recensioni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88D0979-00FA-EB2B-305D-3DAF7D3C69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225" y="4735439"/>
            <a:ext cx="1052175" cy="1052175"/>
          </a:xfrm>
          <a:prstGeom prst="rect">
            <a:avLst/>
          </a:prstGeom>
        </p:spPr>
      </p:pic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1DAB7BBC-0F5E-22FB-C031-CB8C616EDBDC}"/>
              </a:ext>
            </a:extLst>
          </p:cNvPr>
          <p:cNvSpPr txBox="1">
            <a:spLocks/>
          </p:cNvSpPr>
          <p:nvPr/>
        </p:nvSpPr>
        <p:spPr>
          <a:xfrm>
            <a:off x="4494903" y="2183516"/>
            <a:ext cx="6982165" cy="18819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>
              <a:defRPr>
                <a:latin typeface="+mn-lt"/>
                <a:ea typeface="+mn-ea"/>
                <a:cs typeface="+mn-cs"/>
              </a:defRPr>
            </a:lvl2pPr>
            <a:lvl3pPr marL="1219170">
              <a:defRPr>
                <a:latin typeface="+mn-lt"/>
                <a:ea typeface="+mn-ea"/>
                <a:cs typeface="+mn-cs"/>
              </a:defRPr>
            </a:lvl3pPr>
            <a:lvl4pPr marL="1828754">
              <a:defRPr>
                <a:latin typeface="+mn-lt"/>
                <a:ea typeface="+mn-ea"/>
                <a:cs typeface="+mn-cs"/>
              </a:defRPr>
            </a:lvl4pPr>
            <a:lvl5pPr marL="2438339">
              <a:defRPr>
                <a:latin typeface="+mn-lt"/>
                <a:ea typeface="+mn-ea"/>
                <a:cs typeface="+mn-cs"/>
              </a:defRPr>
            </a:lvl5pPr>
            <a:lvl6pPr marL="3047924">
              <a:defRPr>
                <a:latin typeface="+mn-lt"/>
                <a:ea typeface="+mn-ea"/>
                <a:cs typeface="+mn-cs"/>
              </a:defRPr>
            </a:lvl6pPr>
            <a:lvl7pPr marL="3657509">
              <a:defRPr>
                <a:latin typeface="+mn-lt"/>
                <a:ea typeface="+mn-ea"/>
                <a:cs typeface="+mn-cs"/>
              </a:defRPr>
            </a:lvl7pPr>
            <a:lvl8pPr marL="4267093">
              <a:defRPr>
                <a:latin typeface="+mn-lt"/>
                <a:ea typeface="+mn-ea"/>
                <a:cs typeface="+mn-cs"/>
              </a:defRPr>
            </a:lvl8pPr>
            <a:lvl9pPr marL="4876678">
              <a:defRPr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it-IT" sz="2400" kern="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Obiettivo dell’analisi:</a:t>
            </a:r>
            <a:endParaRPr lang="it-IT" sz="2400" kern="0" dirty="0">
              <a:solidFill>
                <a:srgbClr val="014FEF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Identificare trend nelle vendite e nei prodotti più popolari</a:t>
            </a:r>
            <a:r>
              <a:rPr lang="it-IT" sz="2000" kern="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Valutare tempi di consegna e performance dei venditori</a:t>
            </a:r>
            <a:endParaRPr lang="it-IT" sz="2000" kern="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latin typeface="Helvetica" panose="020B0604020202020204" pitchFamily="34" charset="0"/>
                <a:cs typeface="Helvetica" panose="020B0604020202020204" pitchFamily="34" charset="0"/>
              </a:rPr>
              <a:t>Estrarre insight utili per strategie di marketing e logistica</a:t>
            </a:r>
            <a:endParaRPr lang="it-IT" sz="2000" kern="0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911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77B05-D525-02D2-DE6A-66902C03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3E04C208-2FA5-6470-F29B-76626A945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933" y="792847"/>
            <a:ext cx="10867467" cy="538609"/>
          </a:xfrm>
        </p:spPr>
        <p:txBody>
          <a:bodyPr/>
          <a:lstStyle/>
          <a:p>
            <a:r>
              <a:rPr lang="it-IT" sz="3500" b="1" dirty="0">
                <a:latin typeface="Helvetica" panose="020B0604020202020204" pitchFamily="34" charset="0"/>
                <a:cs typeface="Helvetica" panose="020B0604020202020204" pitchFamily="34" charset="0"/>
              </a:rPr>
              <a:t>Tools per analisi e presentazione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A8CCFE2-6AFD-CF91-38C8-20AD4B840F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4933" y="1688664"/>
            <a:ext cx="3779906" cy="2215991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it-IT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Visual Studio Code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Pulizia e preparazione dei dati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Test di Ipotesi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Regressione lineare</a:t>
            </a:r>
          </a:p>
          <a:p>
            <a:endParaRPr lang="it-IT" dirty="0">
              <a:solidFill>
                <a:srgbClr val="FFFFFF"/>
              </a:solidFill>
            </a:endParaRP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7D91CAC1-3FC3-43E1-1406-EDE9488699B3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6148666" y="1688377"/>
            <a:ext cx="5486400" cy="575542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it-IT" sz="2400" dirty="0">
                <a:solidFill>
                  <a:srgbClr val="014FE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Power BI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Creazione di dashboard interattive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Visualizzazione dei trend e KPI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rgbClr val="001733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Supporto alle decisioni con insight derivati dai dati</a:t>
            </a:r>
          </a:p>
          <a:p>
            <a:pPr fontAlgn="base"/>
            <a:endParaRPr lang="it-IT" sz="2000" b="1" dirty="0">
              <a:solidFill>
                <a:srgbClr val="001733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fontAlgn="base"/>
            <a:endParaRPr lang="it-IT" sz="2400" b="1" dirty="0">
              <a:solidFill>
                <a:srgbClr val="001733"/>
              </a:solidFill>
            </a:endParaRPr>
          </a:p>
          <a:p>
            <a:endParaRPr lang="en-US" sz="2200" dirty="0">
              <a:solidFill>
                <a:srgbClr val="3639EB"/>
              </a:solidFill>
              <a:latin typeface="Arial Black"/>
              <a:ea typeface="+mj-ea"/>
            </a:endParaRPr>
          </a:p>
          <a:p>
            <a:endParaRPr lang="en-US" sz="2200" dirty="0">
              <a:solidFill>
                <a:srgbClr val="3639EB"/>
              </a:solidFill>
              <a:latin typeface="Arial Black"/>
              <a:ea typeface="+mj-ea"/>
            </a:endParaRPr>
          </a:p>
          <a:p>
            <a:endParaRPr lang="en-US" sz="2200" dirty="0">
              <a:solidFill>
                <a:srgbClr val="001733"/>
              </a:solidFill>
              <a:latin typeface="Arial Black"/>
              <a:ea typeface="+mj-ea"/>
            </a:endParaRP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CAC4C2F-55EF-8CF7-A679-4C012E905E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225" y="4735439"/>
            <a:ext cx="1052175" cy="105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81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639EB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136</Words>
  <Application>Microsoft Office PowerPoint</Application>
  <PresentationFormat>Widescreen</PresentationFormat>
  <Paragraphs>53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Arial Black</vt:lpstr>
      <vt:lpstr>Calibri</vt:lpstr>
      <vt:lpstr>Helvetica</vt:lpstr>
      <vt:lpstr>Lucida Sans Unicode</vt:lpstr>
      <vt:lpstr>Office Theme</vt:lpstr>
      <vt:lpstr>PowerPoint Presentation</vt:lpstr>
      <vt:lpstr>Gruppo e oggetto del lavoro</vt:lpstr>
      <vt:lpstr>Obiettivo:  Analisi del Dataset Brazilian E-Commerce</vt:lpstr>
      <vt:lpstr>Tools per analisi e presentazione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Zanola</dc:creator>
  <cp:lastModifiedBy>Rachele Tenerini</cp:lastModifiedBy>
  <cp:revision>2</cp:revision>
  <dcterms:created xsi:type="dcterms:W3CDTF">2026-02-25T08:47:37Z</dcterms:created>
  <dcterms:modified xsi:type="dcterms:W3CDTF">2026-02-27T15:29:55Z</dcterms:modified>
</cp:coreProperties>
</file>